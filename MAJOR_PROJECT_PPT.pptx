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28403" y="945913"/>
            <a:ext cx="8637073" cy="2618554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8404" y="3564467"/>
            <a:ext cx="8637072" cy="1071095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27124" y="329307"/>
            <a:ext cx="5943668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24392" y="134930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37805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/>
            </a:lvl1pPr>
          </a:lstStyle>
          <a:p>
            <a:fld id="{48A87A34-81AB-432B-8DAE-1953F412C126}" type="datetimeFigureOut">
              <a:rPr lang="en-US" smtClean="0"/>
              <a:pPr/>
              <a:t>5/11/2025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24" name="Picture 2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3990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7" y="1756129"/>
            <a:ext cx="8619060" cy="2050065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29166" y="3806195"/>
            <a:ext cx="8619060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8065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1052" y="958037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9166" y="2165621"/>
            <a:ext cx="4645152" cy="32938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606" y="2171769"/>
            <a:ext cx="4645152" cy="32870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7946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66" y="953336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9166" y="2169727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9166" y="2974448"/>
            <a:ext cx="4645152" cy="24938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4337" y="2173181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0" cap="none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94337" y="2971669"/>
            <a:ext cx="4645152" cy="2487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8" name="Picture 17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64823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4" name="Picture 13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70888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186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4291" y="952578"/>
            <a:ext cx="3275013" cy="2322176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3334" y="952578"/>
            <a:ext cx="6012470" cy="4505221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4291" y="3274754"/>
            <a:ext cx="3275013" cy="2178918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6" name="Picture 15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819892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chemeClr val="tx1">
                    <a:lumMod val="85000"/>
                    <a:lumOff val="15000"/>
                  </a:schemeClr>
                </a:gs>
                <a:gs pos="100000">
                  <a:schemeClr val="tx1">
                    <a:lumMod val="95000"/>
                    <a:lumOff val="5000"/>
                  </a:schemeClr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14300" prst="artDeco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124" y="1129513"/>
            <a:ext cx="5854872" cy="192420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8247" y="3053721"/>
            <a:ext cx="5846486" cy="2096013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25300" y="5469856"/>
            <a:ext cx="5849605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smtClean="0"/>
              <a:pPr/>
              <a:t>5/11/2025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25300" y="318640"/>
            <a:ext cx="4877818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176794" y="137408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22" name="Picture 21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6" t="474" r="48549" b="36564"/>
          <a:stretch/>
        </p:blipFill>
        <p:spPr>
          <a:xfrm>
            <a:off x="1125460" y="643464"/>
            <a:ext cx="5879592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38474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5" name="Picture 14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15828" b="36435"/>
          <a:stretch/>
        </p:blipFill>
        <p:spPr>
          <a:xfrm>
            <a:off x="1125460" y="643464"/>
            <a:ext cx="9610344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90587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4709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30270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5/11/2025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7" name="Picture 16" descr="RedHashing.emf"/>
          <p:cNvPicPr>
            <a:picLocks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15" r="59215" b="36435"/>
          <a:stretch/>
        </p:blipFill>
        <p:spPr>
          <a:xfrm rot="5400000">
            <a:off x="8642279" y="3046916"/>
            <a:ext cx="4663440" cy="1554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50304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19336"/>
            <a:ext cx="12192000" cy="74295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468769"/>
            <a:ext cx="12192000" cy="56470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  <a:lumMod val="100000"/>
                </a:schemeClr>
              </a:gs>
              <a:gs pos="100000">
                <a:schemeClr val="bg2">
                  <a:lumMod val="95000"/>
                  <a:lumOff val="5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/>
          <p:cNvCxnSpPr/>
          <p:nvPr/>
        </p:nvCxnSpPr>
        <p:spPr>
          <a:xfrm>
            <a:off x="0" y="6121269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30270" y="953324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0270" y="2171769"/>
            <a:ext cx="9603275" cy="3294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32830" y="330370"/>
            <a:ext cx="251539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5/11/2025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270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18076" y="137408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165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none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A3530-9C6E-F3FA-02F0-CB6F4544EA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4223" y="2338465"/>
            <a:ext cx="10643016" cy="1761549"/>
          </a:xfrm>
        </p:spPr>
        <p:txBody>
          <a:bodyPr>
            <a:no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THE IMPACT OF DIDGITAL HEALTH PLATFORMS FOR WELLNESSSUPPORTS 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7A89BC-CA38-B8C6-D108-B805AA8C52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457" y="1076099"/>
            <a:ext cx="10643016" cy="1262366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COIMATORE INSTITUTE OF MANAGEMENT AND    TECHNOOGY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47920B-689E-AE7A-2AC8-2FF49839F56A}"/>
              </a:ext>
            </a:extLst>
          </p:cNvPr>
          <p:cNvSpPr txBox="1"/>
          <p:nvPr/>
        </p:nvSpPr>
        <p:spPr>
          <a:xfrm>
            <a:off x="6570691" y="5135570"/>
            <a:ext cx="54814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GUIDED BY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LAKSHMI A S., B.E., MBA., Ph.D.,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123447-0FFE-8BBC-70DD-3FCA09E76EE7}"/>
              </a:ext>
            </a:extLst>
          </p:cNvPr>
          <p:cNvSpPr txBox="1"/>
          <p:nvPr/>
        </p:nvSpPr>
        <p:spPr>
          <a:xfrm>
            <a:off x="829457" y="5135569"/>
            <a:ext cx="47918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MANIYARASI 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1343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C0D7C-FF72-4BDF-BC77-B1591565A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50907E0-59A4-E862-64E7-660BF0DFCED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9239" y="1789520"/>
            <a:ext cx="9902491" cy="2241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Definition and importance of digital health platforms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Rise in usage due to lifestyle diseases and COVID-19</a:t>
            </a: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Purpose of the study: Evaluate the effectiveness of digital health tools in supporting wellness</a:t>
            </a:r>
          </a:p>
        </p:txBody>
      </p:sp>
    </p:spTree>
    <p:extLst>
      <p:ext uri="{BB962C8B-B14F-4D97-AF65-F5344CB8AC3E}">
        <p14:creationId xmlns:p14="http://schemas.microsoft.com/office/powerpoint/2010/main" val="2844540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5A79D-69BB-661E-B37C-D96A46303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PROFILE</a:t>
            </a:r>
            <a:endParaRPr lang="en-IN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511A4-F5CF-D82C-6420-23D58C9F8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0270" y="1648917"/>
            <a:ext cx="10457127" cy="410730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healthcare sector is a vital industry focused on improving and maintaining individual and community well-being. It includes hospitals, clinics, pharmaceuticals, insurance, and digital health services. With rising lifestyle diseases and aging populations, there's a growing demand for accessible and affordable care.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integration of technology like telehealth, wearable devices, and health apps is transforming the sector, making healthcare more efficient, personalized, and preventive in nature.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3407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AC93C-24F6-D2F6-5ECC-36C91303A5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229E00C-D967-6015-B830-DA17DDC291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4667543"/>
              </p:ext>
            </p:extLst>
          </p:nvPr>
        </p:nvGraphicFramePr>
        <p:xfrm>
          <a:off x="914400" y="1738859"/>
          <a:ext cx="10747947" cy="3902348"/>
        </p:xfrm>
        <a:graphic>
          <a:graphicData uri="http://schemas.openxmlformats.org/drawingml/2006/table">
            <a:tbl>
              <a:tblPr/>
              <a:tblGrid>
                <a:gridCol w="1993692">
                  <a:extLst>
                    <a:ext uri="{9D8B030D-6E8A-4147-A177-3AD203B41FA5}">
                      <a16:colId xmlns:a16="http://schemas.microsoft.com/office/drawing/2014/main" val="941374570"/>
                    </a:ext>
                  </a:extLst>
                </a:gridCol>
                <a:gridCol w="2292322">
                  <a:extLst>
                    <a:ext uri="{9D8B030D-6E8A-4147-A177-3AD203B41FA5}">
                      <a16:colId xmlns:a16="http://schemas.microsoft.com/office/drawing/2014/main" val="2615132174"/>
                    </a:ext>
                  </a:extLst>
                </a:gridCol>
                <a:gridCol w="1561653">
                  <a:extLst>
                    <a:ext uri="{9D8B030D-6E8A-4147-A177-3AD203B41FA5}">
                      <a16:colId xmlns:a16="http://schemas.microsoft.com/office/drawing/2014/main" val="772548899"/>
                    </a:ext>
                  </a:extLst>
                </a:gridCol>
                <a:gridCol w="2352133">
                  <a:extLst>
                    <a:ext uri="{9D8B030D-6E8A-4147-A177-3AD203B41FA5}">
                      <a16:colId xmlns:a16="http://schemas.microsoft.com/office/drawing/2014/main" val="2733870526"/>
                    </a:ext>
                  </a:extLst>
                </a:gridCol>
                <a:gridCol w="2548147">
                  <a:extLst>
                    <a:ext uri="{9D8B030D-6E8A-4147-A177-3AD203B41FA5}">
                      <a16:colId xmlns:a16="http://schemas.microsoft.com/office/drawing/2014/main" val="1345775580"/>
                    </a:ext>
                  </a:extLst>
                </a:gridCol>
              </a:tblGrid>
              <a:tr h="206217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Author(s)</a:t>
                      </a:r>
                    </a:p>
                  </a:txBody>
                  <a:tcPr marL="45751" marR="45751" marT="22875" marB="22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Study</a:t>
                      </a:r>
                    </a:p>
                  </a:txBody>
                  <a:tcPr marL="45751" marR="45751" marT="22875" marB="22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Sample Size</a:t>
                      </a:r>
                    </a:p>
                  </a:txBody>
                  <a:tcPr marL="45751" marR="45751" marT="22875" marB="22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Tools Used</a:t>
                      </a:r>
                    </a:p>
                  </a:txBody>
                  <a:tcPr marL="45751" marR="45751" marT="22875" marB="22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</a:p>
                  </a:txBody>
                  <a:tcPr marL="45751" marR="45751" marT="22875" marB="22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1987929"/>
                  </a:ext>
                </a:extLst>
              </a:tr>
              <a:tr h="670206">
                <a:tc>
                  <a:txBody>
                    <a:bodyPr/>
                    <a:lstStyle/>
                    <a:p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Kumar et al. (2019)</a:t>
                      </a:r>
                    </a:p>
                  </a:txBody>
                  <a:tcPr marL="45751" marR="45751" marT="22875" marB="22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Indian working professionals using wellness apps</a:t>
                      </a:r>
                    </a:p>
                  </a:txBody>
                  <a:tcPr marL="45751" marR="45751" marT="22875" marB="22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300</a:t>
                      </a:r>
                    </a:p>
                  </a:txBody>
                  <a:tcPr marL="45751" marR="45751" marT="22875" marB="22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Chi-square, Descriptive Stats</a:t>
                      </a:r>
                    </a:p>
                  </a:txBody>
                  <a:tcPr marL="45751" marR="45751" marT="22875" marB="22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physical activity, reduced stress</a:t>
                      </a:r>
                    </a:p>
                  </a:txBody>
                  <a:tcPr marL="45751" marR="45751" marT="22875" marB="22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3661552"/>
                  </a:ext>
                </a:extLst>
              </a:tr>
              <a:tr h="824870"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Lee &amp; Kim (2020)</a:t>
                      </a:r>
                    </a:p>
                  </a:txBody>
                  <a:tcPr marL="45751" marR="45751" marT="22875" marB="22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Korean college students &amp; app usability</a:t>
                      </a:r>
                    </a:p>
                  </a:txBody>
                  <a:tcPr marL="45751" marR="45751" marT="22875" marB="22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250</a:t>
                      </a:r>
                    </a:p>
                  </a:txBody>
                  <a:tcPr marL="45751" marR="45751" marT="22875" marB="22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ANOVA, Regression</a:t>
                      </a:r>
                    </a:p>
                  </a:txBody>
                  <a:tcPr marL="45751" marR="45751" marT="22875" marB="22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Interface usability &amp; notifications increase engagement</a:t>
                      </a:r>
                    </a:p>
                  </a:txBody>
                  <a:tcPr marL="45751" marR="45751" marT="22875" marB="22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8153191"/>
                  </a:ext>
                </a:extLst>
              </a:tr>
              <a:tr h="670206">
                <a:tc>
                  <a:txBody>
                    <a:bodyPr/>
                    <a:lstStyle/>
                    <a:p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Smith et al. (2020)</a:t>
                      </a:r>
                    </a:p>
                  </a:txBody>
                  <a:tcPr marL="45751" marR="45751" marT="22875" marB="22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U.S. corporate employees in wellness programs</a:t>
                      </a:r>
                    </a:p>
                  </a:txBody>
                  <a:tcPr marL="45751" marR="45751" marT="22875" marB="22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400</a:t>
                      </a:r>
                    </a:p>
                  </a:txBody>
                  <a:tcPr marL="45751" marR="45751" marT="22875" marB="22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Paired t-test, SEM</a:t>
                      </a:r>
                    </a:p>
                  </a:txBody>
                  <a:tcPr marL="45751" marR="45751" marT="22875" marB="22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Enhanced mental health, productivity</a:t>
                      </a:r>
                    </a:p>
                  </a:txBody>
                  <a:tcPr marL="45751" marR="45751" marT="22875" marB="22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7635790"/>
                  </a:ext>
                </a:extLst>
              </a:tr>
              <a:tr h="670206">
                <a:tc>
                  <a:txBody>
                    <a:bodyPr/>
                    <a:lstStyle/>
                    <a:p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Hassan et al. (2021)</a:t>
                      </a:r>
                    </a:p>
                  </a:txBody>
                  <a:tcPr marL="45751" marR="45751" marT="22875" marB="22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UAE fitness app users</a:t>
                      </a:r>
                    </a:p>
                  </a:txBody>
                  <a:tcPr marL="45751" marR="45751" marT="22875" marB="22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350</a:t>
                      </a:r>
                    </a:p>
                  </a:txBody>
                  <a:tcPr marL="45751" marR="45751" marT="22875" marB="22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ANOVA, Correlation</a:t>
                      </a:r>
                    </a:p>
                  </a:txBody>
                  <a:tcPr marL="45751" marR="45751" marT="22875" marB="22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Goal achievement improved with tracking</a:t>
                      </a:r>
                    </a:p>
                  </a:txBody>
                  <a:tcPr marL="45751" marR="45751" marT="22875" marB="22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6084481"/>
                  </a:ext>
                </a:extLst>
              </a:tr>
              <a:tr h="670206">
                <a:tc>
                  <a:txBody>
                    <a:bodyPr/>
                    <a:lstStyle/>
                    <a:p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Bose &amp; Nair (2023)</a:t>
                      </a:r>
                    </a:p>
                  </a:txBody>
                  <a:tcPr marL="45751" marR="45751" marT="22875" marB="22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Urban Indians using mental health apps</a:t>
                      </a:r>
                    </a:p>
                  </a:txBody>
                  <a:tcPr marL="45751" marR="45751" marT="22875" marB="22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</a:t>
                      </a:r>
                    </a:p>
                  </a:txBody>
                  <a:tcPr marL="45751" marR="45751" marT="22875" marB="22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Chi-square, Factor Analysis</a:t>
                      </a:r>
                    </a:p>
                  </a:txBody>
                  <a:tcPr marL="45751" marR="45751" marT="22875" marB="22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Reduced stress, improved emotional well-being</a:t>
                      </a:r>
                    </a:p>
                  </a:txBody>
                  <a:tcPr marL="45751" marR="45751" marT="22875" marB="2287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50245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14621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601A0-9291-A0BC-021A-83A911C97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0270" y="953325"/>
            <a:ext cx="9603275" cy="875476"/>
          </a:xfrm>
        </p:spPr>
        <p:txBody>
          <a:bodyPr>
            <a:normAutofit/>
          </a:bodyPr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METHODLOGY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E626B74-49DE-6E3E-202E-E86697E894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10151" y="2013467"/>
            <a:ext cx="8542723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Design: Quantitative, survey-based using structured questionnaire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Sample Size: 219 respondents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Sampling Technique: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Random 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sampling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Collection: Google Forms distributed via social media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4428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CC511-415B-0D17-A3EE-14D964BFF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OBJECTIVES, TOOLS &amp; POPULATION 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b="1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0FB4017-AE4F-2C4A-B188-9B5A82EE6E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65378" y="1717177"/>
            <a:ext cx="11086715" cy="39039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Primary Objective: To study the impact of digital health platforms on wellness Supports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Secondary Objectives: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 perceived impact on physical, mental, emotional wellness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Assess user engagement and satisfaction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demographic influences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Tools: Structured questionnaires, Likert scale, ANOVA, Regression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Population: Students, professionals, healthcare workers using digital health tools.</a:t>
            </a:r>
          </a:p>
        </p:txBody>
      </p:sp>
    </p:spTree>
    <p:extLst>
      <p:ext uri="{BB962C8B-B14F-4D97-AF65-F5344CB8AC3E}">
        <p14:creationId xmlns:p14="http://schemas.microsoft.com/office/powerpoint/2010/main" val="2902651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D53DC-F30B-7178-CE5C-B03155B3F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SIZE &amp; SAMPLING TECHNIQUES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DB68CDD-BED1-88D5-33F1-318BF43904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35201" y="1754022"/>
            <a:ext cx="10130722" cy="33499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Population Details: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Age groups: Mostly 21–30 years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Gender: 58% male, 42% female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Occupations: 52% students, 37% employees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Sampling Technique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Probability sampling via random distribution online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Justification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Targets tech-savvy users actively using digital wellness platforms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08043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6674D-4B0D-261F-EA55-4A5F416AA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&amp; FINDINGS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0B1E4-9F4F-F5F2-69AF-E3BBB83744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0270" y="1828800"/>
            <a:ext cx="9603275" cy="377752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Descriptive Stats: Moderate satisfaction (avg. 3.35/5)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Significant Findings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ANOVA showed digital platform usage positively impacts wellness (p &lt; 0.001)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indicated engagement strongly predicts wellness outcomes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Differences found across age and occupation, not gender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Personalization features linked to user satisfaction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90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ED92A-68C3-1BAD-5B25-AD6320644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D9B75D-160A-4730-CCE4-1E34DED4A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health platforms effectively support user wellness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Engagement and personalization are key to positive outcomes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improved platform design, personalization, and accessibility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research should explore longitudinal effects and diverse populations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6067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7A271-DF82-7993-65A0-CF57C43122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        </a:t>
            </a:r>
            <a:r>
              <a:rPr lang="en-US" sz="7200" dirty="0">
                <a:latin typeface="Bodoni MT Black" panose="02070A03080606020203" pitchFamily="18" charset="0"/>
              </a:rPr>
              <a:t>THANK YOU </a:t>
            </a:r>
            <a:endParaRPr lang="en-IN" dirty="0">
              <a:latin typeface="Bodoni MT Black" panose="02070A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314826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Yellow 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Gallery">
      <a:majorFont>
        <a:latin typeface="Century Gothic" panose="020B0502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  <a:lumMod val="108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E050AC27-895F-4B90-991D-A6818FC89AB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94</TotalTime>
  <Words>518</Words>
  <Application>Microsoft Office PowerPoint</Application>
  <PresentationFormat>Widescreen</PresentationFormat>
  <Paragraphs>77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Bodoni MT Black</vt:lpstr>
      <vt:lpstr>Century Gothic</vt:lpstr>
      <vt:lpstr>Times New Roman</vt:lpstr>
      <vt:lpstr>Wingdings</vt:lpstr>
      <vt:lpstr>Gallery</vt:lpstr>
      <vt:lpstr>   THE IMPACT OF DIDGITAL HEALTH PLATFORMS FOR WELLNESSSUPPORTS </vt:lpstr>
      <vt:lpstr>INTRODUCTION</vt:lpstr>
      <vt:lpstr>INDUSTRY PROFILE</vt:lpstr>
      <vt:lpstr>LITERATURE REVIEW</vt:lpstr>
      <vt:lpstr> METHODLOGY</vt:lpstr>
      <vt:lpstr>OBJECTIVES, TOOLS &amp; POPULATION   </vt:lpstr>
      <vt:lpstr>SAMPLE SIZE &amp; SAMPLING TECHNIQUES </vt:lpstr>
      <vt:lpstr>ANALYSIS &amp; FINDINGS</vt:lpstr>
      <vt:lpstr>CONCLUSION</vt:lpstr>
      <vt:lpstr>        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MANI SAKTHI</dc:creator>
  <cp:lastModifiedBy>MANI SAKTHI</cp:lastModifiedBy>
  <cp:revision>1</cp:revision>
  <dcterms:created xsi:type="dcterms:W3CDTF">2025-05-11T13:20:35Z</dcterms:created>
  <dcterms:modified xsi:type="dcterms:W3CDTF">2025-05-11T14:55:33Z</dcterms:modified>
</cp:coreProperties>
</file>